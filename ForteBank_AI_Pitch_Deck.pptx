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0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DA4AF"/>
                </a:solidFill>
              </a:defRPr>
            </a:pPr>
            <a:r>
              <a:t>FORTEBANK  •  DATATHON 26  •  РЕШЕНИЕ КЕЙСА</a:t>
            </a:r>
          </a:p>
          <a:p>
            <a:pPr>
              <a:spcAft>
                <a:spcPts val="1400"/>
              </a:spcAft>
              <a:defRPr sz="3500" b="1">
                <a:solidFill>
                  <a:srgbClr val="FFFFFF"/>
                </a:solidFill>
              </a:defRPr>
            </a:pPr>
            <a:r>
              <a:t>Forte AI: Автономный видеоаудит кассовой дисциплины</a:t>
            </a:r>
          </a:p>
          <a:p>
            <a:pPr>
              <a:spcAft>
                <a:spcPts val="2800"/>
              </a:spcAft>
              <a:defRPr sz="1700">
                <a:solidFill>
                  <a:srgbClr val="F1F5F9"/>
                </a:solidFill>
              </a:defRPr>
            </a:pPr>
            <a:r>
              <a:t>Двухуровневый алгоритм (YOLO11 Pose + Qwen2-VL FP16) для 100% контроля операций на локальном контуре банка с привязкой к нормам НБ РК.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303520"/>
            <a:ext cx="2377440" cy="41148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100% Offline (Zero-Cloud)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5303520"/>
            <a:ext cx="2377440" cy="411480"/>
          </a:xfrm>
          <a:prstGeom prst="roundRect">
            <a:avLst/>
          </a:prstGeom>
          <a:solidFill>
            <a:srgbClr val="0C4A6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Скорость: 130–290 FPS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303520"/>
            <a:ext cx="2377440" cy="411480"/>
          </a:xfrm>
          <a:prstGeom prst="round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Recall: 100% (22/22)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5303520"/>
            <a:ext cx="2377440" cy="411480"/>
          </a:xfrm>
          <a:prstGeom prst="roundRect">
            <a:avLst/>
          </a:prstGeom>
          <a:solidFill>
            <a:srgbClr val="701A75"/>
          </a:solidFill>
          <a:ln w="1905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НПА adilet.zan.kz</a:t>
            </a:r>
          </a:p>
        </p:txBody>
      </p:sp>
      <p:pic>
        <p:nvPicPr>
          <p:cNvPr id="9" name="Picture 8" descr="for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4630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910A38"/>
                </a:solidFill>
              </a:defRPr>
            </a:pPr>
            <a:r>
              <a:t>R&amp;D ПУТЬ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875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Как мы пришли к решению: Алгоритм наших действий</a:t>
            </a:r>
          </a:p>
        </p:txBody>
      </p:sp>
      <p:pic>
        <p:nvPicPr>
          <p:cNvPr id="5" name="Picture 4" descr="for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25146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10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2185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910A38"/>
                </a:solidFill>
              </a:defRPr>
            </a:pPr>
            <a:r>
              <a:t>ШАГ 1: АНАЛИЗ НПА И ТЗ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Формирование правил проверки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Деконструкция нормативных актов РК (adilet.zan.kz): ПП НБРК № 231, № 224, № 14.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Формирование матрицы из 12 категорий нарушений кассовой дисциплины банка.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Формализация требований: 100% Offline, лимит времени 5 мин, устойчивость к ракурсу.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146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737360"/>
            <a:ext cx="2185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284C7"/>
                </a:solidFill>
              </a:defRPr>
            </a:pPr>
            <a:r>
              <a:t>ШАГ 2: ИССЛЕДОВАНИЕ ПАТТЕРНОВ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Биомеханика кассового узла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Анализ 42 контрольных роликов: видеосъемка верхней камеры, отражения в стеклянной двери.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Выделение ключевых паттернов: смещение центра масс при вставании, угол руки у лица, передача наличности.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Обнаружение природы бликов: фантомные силуэты на стекле живут &lt; 1.3 с, реальный человек &gt;= 1.3 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554480"/>
            <a:ext cx="25146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737360"/>
            <a:ext cx="2185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D97706"/>
                </a:solidFill>
              </a:defRPr>
            </a:pPr>
            <a:r>
              <a:t>ШАГ 3: ДВУХУРОВНЕВОЕ ПРОЕКТИРОВАНИЕ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Разделение ответственности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Проектирование конвейера Macro-to-Micro для преодоления проблемы скорости и тяжести VLM.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Уровень 1: Сверхбыстрый CV-сканер позы (YOLO Pose) для отбора 2–4 критических микро-сегментов.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Уровень 2: Локальная VLM (Qwen2-VL FP16) для точечной проверки гипотез за 100 миллисекунд.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554480"/>
            <a:ext cx="2514600" cy="47548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737360"/>
            <a:ext cx="2185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59669"/>
                </a:solidFill>
              </a:defRPr>
            </a:pPr>
            <a:r>
              <a:t>ШАГ 4: КАЛИБРОВКА И ВАЛИДАЦИЯ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Инженерия промптов и API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Внедрение алгоритма Temporal Stability Tracker (отсечение бликов на стекле кабины).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Калибровка скептических промптов VLM с презумпцией невиновности сотрудника.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Упаковка в production-сервис: FastAPI сервер, X-API-Key, 11-кадровая раскадровка и Web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910A38"/>
                </a:solidFill>
              </a:defRPr>
            </a:pPr>
            <a:r>
              <a:t>ТЕХНИЧЕСКИЙ АЛГОРИТМ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875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Алгоритм работы нашего решения: Пошаговый конвейер</a:t>
            </a:r>
          </a:p>
        </p:txBody>
      </p:sp>
      <p:pic>
        <p:nvPicPr>
          <p:cNvPr id="5" name="Picture 4" descr="for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25146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10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2185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910A38"/>
                </a:solidFill>
              </a:defRPr>
            </a:pPr>
            <a:r>
              <a:t>ЭТАП 1: СКЕЛЕТНЫЙ ТРЕКИНГ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YOLO11 Pose + Temporal Tracker (300 FPS)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Декодирование видеопотока и детекция 17 суставов кассира и клиентов.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Векторный анализ биомеханики: определение позы без привязки к пиксельным полигонам стола.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Temporal Persistence &gt;= 1.3 с: отсечение мерцаний, теней и бликов на стеклянной двери.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146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737360"/>
            <a:ext cx="2185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284C7"/>
                </a:solidFill>
              </a:defRPr>
            </a:pPr>
            <a:r>
              <a:t>ЭТАП 2: ВЫДЕЛЕНИЕ МАКРО-СОБЫТИЙ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Кластеризация и генерация триггеров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Детекция критических фаз: STANDUP (вставание), HAND_TO_MOUTH (рука у лица), CLIENT_ARRIVAL / DEPARTURE, HANDOVER.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Кластеризация триггеров в радиусе 4 секунд: отсечение дребезга состояний.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Сжатие потока: из тысяч кадров видео отбираются ровно 2–4 момента потенциального нарушения.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554480"/>
            <a:ext cx="25146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737360"/>
            <a:ext cx="2185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D97706"/>
                </a:solidFill>
              </a:defRPr>
            </a:pPr>
            <a:r>
              <a:t>ЭТАП 3: ТОЧЕЧНАЯ VLM-ВАЛИДАЦИЯ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Local Qwen2-VL FP16 (Zero-Cloud)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Локальный запуск на GPU: модель отвечает на узкие бинарные вопросы за 100 мс.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Проверка гипотез: 'Открыта ли дверца сейфа?', 'Горит ли монитор?', 'Держит ли чашку/телефон или рука пустая?'.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Презумпция невиновности: скептический арбитраж исключает ложные обвинения при штатной работе.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554480"/>
            <a:ext cx="2514600" cy="47548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737360"/>
            <a:ext cx="218541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059669"/>
                </a:solidFill>
              </a:defRPr>
            </a:pPr>
            <a:r>
              <a:t>ЭТАП 4: НОРМАТИВНЫЙ МАППИНГ &amp; ОТЧЕТ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</a:defRPr>
            </a:pPr>
            <a:r>
              <a:t>Детерминированная база laws.json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Сверка физического факта с эталонной базой статей adilet.zan.kz (ПП НБРК № 231, № 224, № 14).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Извлечение доказательств: 11-кадровый стрип (-2.5 с .. +2.5 с) и единый композитный коллаж.</a:t>
            </a:r>
          </a:p>
          <a:p>
            <a:pPr>
              <a:spcAft>
                <a:spcPts val="800"/>
              </a:spcAft>
              <a:defRPr sz="1150">
                <a:solidFill>
                  <a:srgbClr val="334155"/>
                </a:solidFill>
              </a:defRPr>
            </a:pPr>
            <a:r>
              <a:t>•  Формирование ответа: вердикт (violation / no_violation), таймкод, кадры base64 и JSON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7315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910A38"/>
                </a:solidFill>
              </a:defRPr>
            </a:pPr>
            <a:r>
              <a:t>ИТОГИ И ГОТОВНОСТЬ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875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Результаты работы алгоритма: Метрики, Скорость и Продукт</a:t>
            </a:r>
          </a:p>
        </p:txBody>
      </p:sp>
      <p:pic>
        <p:nvPicPr>
          <p:cNvPr id="5" name="Picture 4" descr="for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08760"/>
            <a:ext cx="24688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59669"/>
                </a:solidFill>
              </a:defRPr>
            </a:pPr>
            <a:r>
              <a:t>100%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Recall (Полнота)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22 из 22 нарушений обнаружено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4688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45920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910A38"/>
                </a:solidFill>
              </a:defRPr>
            </a:pPr>
            <a:r>
              <a:t>100%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Precision (Точность)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0 ложных тревог на норме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4688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20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284C7"/>
                </a:solidFill>
              </a:defRPr>
            </a:pPr>
            <a:r>
              <a:t>&lt; 2 сек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Дельта таймкода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Точное попадание в момент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08760"/>
            <a:ext cx="24688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45920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D97706"/>
                </a:solidFill>
              </a:defRPr>
            </a:pPr>
            <a:r>
              <a:t>до 290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Эффективный FPS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В 4–10 раз быстрее реального времени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512064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910A38"/>
                </a:solidFill>
              </a:defRPr>
            </a:pPr>
            <a:r>
              <a:t>СКОРОСТЬ ОБРАБОТКИ (ЛИМИТ ПО ТЗ: 300 СЕКУНД)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✓  Видео Х-1 (25.9 с, 776 кадров): обработано за 6.02 с (128.9 FPS, 4.3x)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✓  Видео Х-2 (17.1 с, 510 кадров): обработано за 2.56 с (199.3 FPS, 6.7x)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✓  Видео Х-3 (20.0 с, 599 кадров): обработано за 2.13 с (281.5 FPS, 9.4x)</a:t>
            </a:r>
          </a:p>
          <a:p>
            <a:pPr>
              <a:spcAft>
                <a:spcPts val="500"/>
              </a:spcAft>
              <a:defRPr sz="1100">
                <a:solidFill>
                  <a:srgbClr val="334155"/>
                </a:solidFill>
              </a:defRPr>
            </a:pPr>
            <a:r>
              <a:t>✓  Видео Х-4 (72.7 с, 2177 кадров): обработано за 7.50 с (290.3 FPS, 9.7x)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29000"/>
            <a:ext cx="5212080" cy="29260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9669"/>
                </a:solidFill>
              </a:defRPr>
            </a:pPr>
            <a:r>
              <a:t>ГОТОВНОСТЬ ПРОДУКТА К ПРОВЕРКЕ ЖЮРИ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✓  100% Offline: локальное исполнение на GPU, 0 байт наружу (периметр банка).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✓  Интерфейс аудитора: 11-кадровая раскадровка (-2.5с .. +2.5с) и единый коллаж доказательств.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✓  REST API: эндпоинты /api/v1/analyze и /api/v1/jobs/{id} по ключу X-API-Key.</a:t>
            </a:r>
          </a:p>
          <a:p>
            <a:pPr>
              <a:spcAft>
                <a:spcPts val="500"/>
              </a:spcAft>
              <a:defRPr sz="1150">
                <a:solidFill>
                  <a:srgbClr val="0F172A"/>
                </a:solidFill>
              </a:defRPr>
            </a:pPr>
            <a:r>
              <a:t>✓  Юридическая чистота: прямая ссылка на статьи НБ РК (ПП № 231, № 224, № 14).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